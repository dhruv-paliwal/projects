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1188720"/>
            <a:ext cx="2926080" cy="411480"/>
          </a:xfrm>
          <a:prstGeom prst="roundRect">
            <a:avLst/>
          </a:prstGeom>
          <a:solidFill>
            <a:srgbClr val="FFF4E6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725B"/>
                </a:solidFill>
              </a:defRPr>
            </a:pPr>
            <a:r>
              <a:t>अधिकृत एलपीजी वितरण केंद्र | UP-KNP-78401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9784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81514"/>
                </a:solidFill>
              </a:defRPr>
            </a:pPr>
            <a:r>
              <a:t>LPG Distribution &amp; Consumer Management System</a:t>
            </a:r>
          </a:p>
          <a:p>
            <a:pPr>
              <a:spcBef>
                <a:spcPts val="800"/>
              </a:spcBef>
              <a:defRPr sz="1600">
                <a:solidFill>
                  <a:srgbClr val="3C3431"/>
                </a:solidFill>
              </a:defRPr>
            </a:pPr>
            <a:r>
              <a:t>High-Scale Operational Logistics &amp; Supply Chain Command Center (Kanpur &amp; Hamirpur Territory)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474720"/>
            <a:ext cx="3108960" cy="21031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3474720"/>
            <a:ext cx="3108960" cy="73152"/>
          </a:xfrm>
          <a:prstGeom prst="rect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514"/>
                </a:solidFill>
              </a:defRPr>
            </a:pPr>
            <a:r>
              <a:t>22,000+ Consumers</a:t>
            </a:r>
          </a:p>
          <a:p>
            <a:pPr>
              <a:spcBef>
                <a:spcPts val="600"/>
              </a:spcBef>
              <a:defRPr sz="1100">
                <a:solidFill>
                  <a:srgbClr val="6E6663"/>
                </a:solidFill>
              </a:defRPr>
            </a:pPr>
            <a:r>
              <a:t>High-performance indexing across Kanpur Nagar, Kanpur Dehat, and Hamirpur local mohallas.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474720"/>
            <a:ext cx="3108960" cy="21031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3474720"/>
            <a:ext cx="3108960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657600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514"/>
                </a:solidFill>
              </a:defRPr>
            </a:pPr>
            <a:r>
              <a:t>Full-Stack MVT &amp; SPA</a:t>
            </a:r>
          </a:p>
          <a:p>
            <a:pPr>
              <a:spcBef>
                <a:spcPts val="600"/>
              </a:spcBef>
              <a:defRPr sz="1100">
                <a:solidFill>
                  <a:srgbClr val="6E6663"/>
                </a:solidFill>
              </a:defRPr>
            </a:pPr>
            <a:r>
              <a:t>Django ORM backend paired with bespoke AngularJS 1.8 &amp; Bootstrap 5 Indian palette.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474720"/>
            <a:ext cx="3108960" cy="21031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3474720"/>
            <a:ext cx="310896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657600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514"/>
                </a:solidFill>
              </a:defRPr>
            </a:pPr>
            <a:r>
              <a:t>Dual Command Interface</a:t>
            </a:r>
          </a:p>
          <a:p>
            <a:pPr>
              <a:spcBef>
                <a:spcPts val="600"/>
              </a:spcBef>
              <a:defRPr sz="1100">
                <a:solidFill>
                  <a:srgbClr val="6E6663"/>
                </a:solidFill>
              </a:defRPr>
            </a:pPr>
            <a:r>
              <a:t>Instant single-page operational terminal + Streamlit data intelligence platform.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2725B"/>
                </a:solidFill>
              </a:defRPr>
            </a:pPr>
            <a:r>
              <a:t>MISSION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514"/>
                </a:solidFill>
              </a:defRPr>
            </a:pPr>
            <a:r>
              <a:t>Executive Summary &amp; Operational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91440"/>
          </a:xfrm>
          <a:prstGeom prst="rect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1514"/>
                </a:solidFill>
              </a:defRPr>
            </a:pPr>
            <a:r>
              <a:t>Operational Challenges</a:t>
            </a:r>
          </a:p>
          <a:p>
            <a:pPr>
              <a:spcBef>
                <a:spcPts val="1000"/>
              </a:spcBef>
              <a:defRPr sz="1200">
                <a:solidFill>
                  <a:srgbClr val="3C3431"/>
                </a:solidFill>
              </a:defRPr>
            </a:pPr>
            <a:r>
              <a:t>• Unsynchronized paper logs causing domestic &amp; commercial cylinder discrepancies.</a:t>
            </a:r>
          </a:p>
          <a:p>
            <a:pPr>
              <a:spcBef>
                <a:spcPts val="1000"/>
              </a:spcBef>
              <a:defRPr sz="1200">
                <a:solidFill>
                  <a:srgbClr val="3C3431"/>
                </a:solidFill>
              </a:defRPr>
            </a:pPr>
            <a:r>
              <a:t>• Manual tracking of 22,000+ consumers across dispersed urban and rural clusters.</a:t>
            </a:r>
          </a:p>
          <a:p>
            <a:pPr>
              <a:spcBef>
                <a:spcPts val="1000"/>
              </a:spcBef>
              <a:defRPr sz="1200">
                <a:solidFill>
                  <a:srgbClr val="3C3431"/>
                </a:solidFill>
              </a:defRPr>
            </a:pPr>
            <a:r>
              <a:t>• Lack of real-time stock visibility between plant godown, dispatch vans, and depot.</a:t>
            </a:r>
          </a:p>
          <a:p>
            <a:pPr>
              <a:spcBef>
                <a:spcPts val="1000"/>
              </a:spcBef>
              <a:defRPr sz="1200">
                <a:solidFill>
                  <a:srgbClr val="3C3431"/>
                </a:solidFill>
              </a:defRPr>
            </a:pPr>
            <a:r>
              <a:t>• Delay in customer DAC OTP authentication and DBTL subsidy reconciliation.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74519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1514"/>
                </a:solidFill>
              </a:defRPr>
            </a:pPr>
            <a:r>
              <a:t>Engineered Solution</a:t>
            </a:r>
          </a:p>
          <a:p>
            <a:pPr>
              <a:spcBef>
                <a:spcPts val="1000"/>
              </a:spcBef>
              <a:defRPr sz="1200">
                <a:solidFill>
                  <a:srgbClr val="3C3431"/>
                </a:solidFill>
              </a:defRPr>
            </a:pPr>
            <a:r>
              <a:t>• Automated, transactional LPG booking with sub-millisecond consumer lookup.</a:t>
            </a:r>
          </a:p>
          <a:p>
            <a:pPr>
              <a:spcBef>
                <a:spcPts val="1000"/>
              </a:spcBef>
              <a:defRPr sz="1200">
                <a:solidFill>
                  <a:srgbClr val="3C3431"/>
                </a:solidFill>
              </a:defRPr>
            </a:pPr>
            <a:r>
              <a:t>• Atomic stock deduction with row-level locks preventing godown overbooking.</a:t>
            </a:r>
          </a:p>
          <a:p>
            <a:pPr>
              <a:spcBef>
                <a:spcPts val="1000"/>
              </a:spcBef>
              <a:defRPr sz="1200">
                <a:solidFill>
                  <a:srgbClr val="3C3431"/>
                </a:solidFill>
              </a:defRPr>
            </a:pPr>
            <a:r>
              <a:t>• Intelligent logistics dispatch grouping orders by municipal corridors in Kanpur &amp; Hamirpur.</a:t>
            </a:r>
          </a:p>
          <a:p>
            <a:pPr>
              <a:spcBef>
                <a:spcPts val="1000"/>
              </a:spcBef>
              <a:defRPr sz="1200">
                <a:solidFill>
                  <a:srgbClr val="3C3431"/>
                </a:solidFill>
              </a:defRPr>
            </a:pPr>
            <a:r>
              <a:t>• Bespoke Indian enterprise interface providing warm, high-contrast, eye-friendly usability.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9144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874519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1514"/>
                </a:solidFill>
              </a:defRPr>
            </a:pPr>
            <a:r>
              <a:t>Measurable Impact</a:t>
            </a:r>
          </a:p>
          <a:p>
            <a:pPr>
              <a:spcBef>
                <a:spcPts val="1000"/>
              </a:spcBef>
              <a:defRPr sz="1200">
                <a:solidFill>
                  <a:srgbClr val="3C3431"/>
                </a:solidFill>
              </a:defRPr>
            </a:pPr>
            <a:r>
              <a:t>• 100% stock audit precision across 14.2kg Domestic, 19kg Commercial &amp; 5kg Mini.</a:t>
            </a:r>
          </a:p>
          <a:p>
            <a:pPr>
              <a:spcBef>
                <a:spcPts val="1000"/>
              </a:spcBef>
              <a:defRPr sz="1200">
                <a:solidFill>
                  <a:srgbClr val="3C3431"/>
                </a:solidFill>
              </a:defRPr>
            </a:pPr>
            <a:r>
              <a:t>• Zero booking race conditions during morning peak demand hours.</a:t>
            </a:r>
          </a:p>
          <a:p>
            <a:pPr>
              <a:spcBef>
                <a:spcPts val="1000"/>
              </a:spcBef>
              <a:defRPr sz="1200">
                <a:solidFill>
                  <a:srgbClr val="3C3431"/>
                </a:solidFill>
              </a:defRPr>
            </a:pPr>
            <a:r>
              <a:t>• Faster dispatch turnaround: bookings allocated to delivery agents automatically.</a:t>
            </a:r>
          </a:p>
          <a:p>
            <a:pPr>
              <a:spcBef>
                <a:spcPts val="1000"/>
              </a:spcBef>
              <a:defRPr sz="1200">
                <a:solidFill>
                  <a:srgbClr val="3C3431"/>
                </a:solidFill>
              </a:defRPr>
            </a:pPr>
            <a:r>
              <a:t>• Standardized Indian Rupee (₹) pricing and digital UPI / COD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2725B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514"/>
                </a:solidFill>
              </a:defRPr>
            </a:pPr>
            <a:r>
              <a:t>Full-Stack Technology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6060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606040" cy="91440"/>
          </a:xfrm>
          <a:prstGeom prst="rect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74519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514"/>
                </a:solidFill>
              </a:defRPr>
            </a:pPr>
            <a:r>
              <a:t>Presentation Tier (SPA)</a:t>
            </a:r>
          </a:p>
          <a:p>
            <a:pPr>
              <a:spcBef>
                <a:spcPts val="400"/>
              </a:spcBef>
              <a:defRPr sz="1100" b="1">
                <a:solidFill>
                  <a:srgbClr val="E2725B"/>
                </a:solidFill>
              </a:defRPr>
            </a:pPr>
            <a:r>
              <a:t>AngularJS 1.8.2 + Bootstrap 5.3</a:t>
            </a:r>
          </a:p>
          <a:p>
            <a:pPr>
              <a:spcBef>
                <a:spcPts val="800"/>
              </a:spcBef>
              <a:defRPr sz="1100">
                <a:solidFill>
                  <a:srgbClr val="3C3431"/>
                </a:solidFill>
              </a:defRPr>
            </a:pPr>
            <a:r>
              <a:t>✔ Single-Page Application with zero reload latency.</a:t>
            </a:r>
          </a:p>
          <a:p>
            <a:pPr>
              <a:spcBef>
                <a:spcPts val="800"/>
              </a:spcBef>
              <a:defRPr sz="1100">
                <a:solidFill>
                  <a:srgbClr val="3C3431"/>
                </a:solidFill>
              </a:defRPr>
            </a:pPr>
            <a:r>
              <a:t>✔ Two-way data binding with custom '{[ ... ]}' interpolation.</a:t>
            </a:r>
          </a:p>
          <a:p>
            <a:pPr>
              <a:spcBef>
                <a:spcPts val="800"/>
              </a:spcBef>
              <a:defRPr sz="1100">
                <a:solidFill>
                  <a:srgbClr val="3C3431"/>
                </a:solidFill>
              </a:defRPr>
            </a:pPr>
            <a:r>
              <a:t>✔ Custom inrCurrency filter formatting Indian numbering (₹).</a:t>
            </a:r>
          </a:p>
          <a:p>
            <a:pPr>
              <a:spcBef>
                <a:spcPts val="800"/>
              </a:spcBef>
              <a:defRPr sz="1100">
                <a:solidFill>
                  <a:srgbClr val="3C3431"/>
                </a:solidFill>
              </a:defRPr>
            </a:pPr>
            <a:r>
              <a:t>✔ WCAG AAA High-Visibility Contrast mode toggle.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645920"/>
            <a:ext cx="26060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38144" y="1645920"/>
            <a:ext cx="2606040" cy="9144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1874519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514"/>
                </a:solidFill>
              </a:defRPr>
            </a:pPr>
            <a:r>
              <a:t>Backend Application Tier</a:t>
            </a:r>
          </a:p>
          <a:p>
            <a:pPr>
              <a:spcBef>
                <a:spcPts val="400"/>
              </a:spcBef>
              <a:defRPr sz="1100" b="1">
                <a:solidFill>
                  <a:srgbClr val="FF9933"/>
                </a:solidFill>
              </a:defRPr>
            </a:pPr>
            <a:r>
              <a:t>Python 3.13 + Django 6.1 (MVT)</a:t>
            </a:r>
          </a:p>
          <a:p>
            <a:pPr>
              <a:spcBef>
                <a:spcPts val="800"/>
              </a:spcBef>
              <a:defRPr sz="1100">
                <a:solidFill>
                  <a:srgbClr val="3C3431"/>
                </a:solidFill>
              </a:defRPr>
            </a:pPr>
            <a:r>
              <a:t>✔ Django ORM with select_for_update() row locking.</a:t>
            </a:r>
          </a:p>
          <a:p>
            <a:pPr>
              <a:spcBef>
                <a:spcPts val="800"/>
              </a:spcBef>
              <a:defRPr sz="1100">
                <a:solidFill>
                  <a:srgbClr val="3C3431"/>
                </a:solidFill>
              </a:defRPr>
            </a:pPr>
            <a:r>
              <a:t>✔ REST JSON API endpoints for stock, consumers, &amp; routes.</a:t>
            </a:r>
          </a:p>
          <a:p>
            <a:pPr>
              <a:spcBef>
                <a:spcPts val="800"/>
              </a:spcBef>
              <a:defRPr sz="1100">
                <a:solidFill>
                  <a:srgbClr val="3C3431"/>
                </a:solidFill>
              </a:defRPr>
            </a:pPr>
            <a:r>
              <a:t>✔ Transaction-safe order generation and DAC OTP creation.</a:t>
            </a:r>
          </a:p>
          <a:p>
            <a:pPr>
              <a:spcBef>
                <a:spcPts val="800"/>
              </a:spcBef>
              <a:defRPr sz="1100">
                <a:solidFill>
                  <a:srgbClr val="3C3431"/>
                </a:solidFill>
              </a:defRPr>
            </a:pPr>
            <a:r>
              <a:t>✔ Native Indian Standard Time (IST) localization.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645920"/>
            <a:ext cx="26060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1645920"/>
            <a:ext cx="2606040" cy="91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19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514"/>
                </a:solidFill>
              </a:defRPr>
            </a:pPr>
            <a:r>
              <a:t>Database &amp; Persistence Tier</a:t>
            </a:r>
          </a:p>
          <a:p>
            <a:pPr>
              <a:spcBef>
                <a:spcPts val="400"/>
              </a:spcBef>
              <a:defRPr sz="1100" b="1">
                <a:solidFill>
                  <a:srgbClr val="FFC000"/>
                </a:solidFill>
              </a:defRPr>
            </a:pPr>
            <a:r>
              <a:t>MySQL 8.0 (mysql-connector-python)</a:t>
            </a:r>
          </a:p>
          <a:p>
            <a:pPr>
              <a:spcBef>
                <a:spcPts val="800"/>
              </a:spcBef>
              <a:defRPr sz="1100">
                <a:solidFill>
                  <a:srgbClr val="3C3431"/>
                </a:solidFill>
              </a:defRPr>
            </a:pPr>
            <a:r>
              <a:t>✔ Official Oracle mysql.connector.django driver.</a:t>
            </a:r>
          </a:p>
          <a:p>
            <a:pPr>
              <a:spcBef>
                <a:spcPts val="800"/>
              </a:spcBef>
              <a:defRPr sz="1100">
                <a:solidFill>
                  <a:srgbClr val="3C3431"/>
                </a:solidFill>
              </a:defRPr>
            </a:pPr>
            <a:r>
              <a:t>✔ Optimized compound indexes for 22,000+ consumer scale.</a:t>
            </a:r>
          </a:p>
          <a:p>
            <a:pPr>
              <a:spcBef>
                <a:spcPts val="800"/>
              </a:spcBef>
              <a:defRPr sz="1100">
                <a:solidFill>
                  <a:srgbClr val="3C3431"/>
                </a:solidFill>
              </a:defRPr>
            </a:pPr>
            <a:r>
              <a:t>✔ Resilient zero-downtime development fallback engine.</a:t>
            </a:r>
          </a:p>
          <a:p>
            <a:pPr>
              <a:spcBef>
                <a:spcPts val="800"/>
              </a:spcBef>
              <a:defRPr sz="1100">
                <a:solidFill>
                  <a:srgbClr val="3C3431"/>
                </a:solidFill>
              </a:defRPr>
            </a:pPr>
            <a:r>
              <a:t>✔ Strict foreign key integrity protecting cylinder inventory.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1645920"/>
            <a:ext cx="26060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1645920"/>
            <a:ext cx="260604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15984" y="1874519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514"/>
                </a:solidFill>
              </a:defRPr>
            </a:pPr>
            <a:r>
              <a:t>Operational Analytics Tier</a:t>
            </a:r>
          </a:p>
          <a:p>
            <a:pPr>
              <a:spcBef>
                <a:spcPts val="400"/>
              </a:spcBef>
              <a:defRPr sz="1100" b="1">
                <a:solidFill>
                  <a:srgbClr val="2E7D32"/>
                </a:solidFill>
              </a:defRPr>
            </a:pPr>
            <a:r>
              <a:t>Streamlit 1.66 + Pandas</a:t>
            </a:r>
          </a:p>
          <a:p>
            <a:pPr>
              <a:spcBef>
                <a:spcPts val="800"/>
              </a:spcBef>
              <a:defRPr sz="1100">
                <a:solidFill>
                  <a:srgbClr val="3C3431"/>
                </a:solidFill>
              </a:defRPr>
            </a:pPr>
            <a:r>
              <a:t>✔ Live executive command center with cached queries.</a:t>
            </a:r>
          </a:p>
          <a:p>
            <a:pPr>
              <a:spcBef>
                <a:spcPts val="800"/>
              </a:spcBef>
              <a:defRPr sz="1100">
                <a:solidFill>
                  <a:srgbClr val="3C3431"/>
                </a:solidFill>
              </a:defRPr>
            </a:pPr>
            <a:r>
              <a:t>✔ Native visualization for godown inventory &amp; routes.</a:t>
            </a:r>
          </a:p>
          <a:p>
            <a:pPr>
              <a:spcBef>
                <a:spcPts val="800"/>
              </a:spcBef>
              <a:defRPr sz="1100">
                <a:solidFill>
                  <a:srgbClr val="3C3431"/>
                </a:solidFill>
              </a:defRPr>
            </a:pPr>
            <a:r>
              <a:t>✔ Direct-in-dashboard refill booking terminal.</a:t>
            </a:r>
          </a:p>
          <a:p>
            <a:pPr>
              <a:spcBef>
                <a:spcPts val="800"/>
              </a:spcBef>
              <a:defRPr sz="1100">
                <a:solidFill>
                  <a:srgbClr val="3C3431"/>
                </a:solidFill>
              </a:defRPr>
            </a:pPr>
            <a:r>
              <a:t>✔ Dedicated .streamlit theme lock enforcing warm palette.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2725B"/>
                </a:solidFill>
              </a:defRPr>
            </a:pPr>
            <a:r>
              <a:t>DATA MODELING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514"/>
                </a:solidFill>
              </a:defRPr>
            </a:pPr>
            <a:r>
              <a:t>Database Schema Engineered for 22,000+ Consumers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2240280"/>
          </a:xfrm>
          <a:prstGeom prst="rect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514"/>
                </a:solidFill>
              </a:defRPr>
            </a:pPr>
            <a:r>
              <a:t>Consumer Model</a:t>
            </a:r>
          </a:p>
          <a:p>
            <a:pPr>
              <a:spcBef>
                <a:spcPts val="200"/>
              </a:spcBef>
              <a:defRPr sz="1050" b="1">
                <a:solidFill>
                  <a:srgbClr val="E2725B"/>
                </a:solidFill>
              </a:defRPr>
            </a:pPr>
            <a:r>
              <a:t>Master Directory (22,000+ Records)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• Unique consumer_id (e.g. LPG-KNP-01429), name, phone, address, and landmark.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• Optimized region field: Kanpur Nagar, Kanpur Dehat, Hamirpur City, Hamirpur Rural, Rath, Maudaha, etc.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• Composite DB Indexes: [region, status], [phone, status], [consumer_id, status] ensuring &lt;20ms lookups.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• Tracks DBTL Aadhaar-linked status and connection types (Domestic SBC/DBC, PMUY, Commercial).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3035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73152" cy="224028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55648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514"/>
                </a:solidFill>
              </a:defRPr>
            </a:pPr>
            <a:r>
              <a:t>CylinderStock Model</a:t>
            </a:r>
          </a:p>
          <a:p>
            <a:pPr>
              <a:spcBef>
                <a:spcPts val="200"/>
              </a:spcBef>
              <a:defRPr sz="1050" b="1">
                <a:solidFill>
                  <a:srgbClr val="E2725B"/>
                </a:solidFill>
              </a:defRPr>
            </a:pPr>
            <a:r>
              <a:t>Inventory &amp; Bottling Godown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• Tracks 14.2kg Domestic Refill, 19kg Commercial Jumbo, and 5kg Mini FTL.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• Atomic quantity tracking: total_quantity, available_quantity, and reserved_quantity.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• Explicit pricing fields in INR (₹) including govt subsidy amount (e.g. ₹903 base, ₹200 subsidy).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• Properties for stock_percentage, low_stock_threshold, and replenishment warnings.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3035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69080"/>
            <a:ext cx="73152" cy="2240280"/>
          </a:xfrm>
          <a:prstGeom prst="rect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78808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514"/>
                </a:solidFill>
              </a:defRPr>
            </a:pPr>
            <a:r>
              <a:t>DeliveryRoute Model</a:t>
            </a:r>
          </a:p>
          <a:p>
            <a:pPr>
              <a:spcBef>
                <a:spcPts val="200"/>
              </a:spcBef>
              <a:defRPr sz="1050" b="1">
                <a:solidFill>
                  <a:srgbClr val="E2725B"/>
                </a:solidFill>
              </a:defRPr>
            </a:pPr>
            <a:r>
              <a:t>Logistics &amp; Dispatch Scheduling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• Assigned delivery agents (Ramesh Yadav, Suresh Verma, etc.) and phone contacts.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• Vehicle registration tags (UP-78-AG-4912, UP-91-K-5521) for Kanpur &amp; Hamirpur routes.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• Dynamic assigned_consumers drop-off counter updated on booking confirmation.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• Status tracking: SCHEDULED, IN_TRANSIT, COMPLETED, and DELAYED.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069080"/>
            <a:ext cx="53035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4069080"/>
            <a:ext cx="73152" cy="224028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78808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514"/>
                </a:solidFill>
              </a:defRPr>
            </a:pPr>
            <a:r>
              <a:t>Order Model</a:t>
            </a:r>
          </a:p>
          <a:p>
            <a:pPr>
              <a:spcBef>
                <a:spcPts val="200"/>
              </a:spcBef>
              <a:defRPr sz="1050" b="1">
                <a:solidFill>
                  <a:srgbClr val="E2725B"/>
                </a:solidFill>
              </a:defRPr>
            </a:pPr>
            <a:r>
              <a:t>Transaction &amp; Audit Trail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• Unique order_id receipt (e.g. ORD-202610-91283) linked via ForeignKeys to Consumer, Stock, &amp; Route.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• Generates authentic 6-digit Delivery Authentication Code (DAC OTP) for doorstep validation.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• Payment reconciliation: Cash on Delivery (COD), UPI (PhonePe/GPay), and Agency Counter.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• Compound indexed on [delivery_status, booking_date] for instantaneous dashboard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2725B"/>
                </a:solidFill>
              </a:defRPr>
            </a:pPr>
            <a:r>
              <a:t>AESTHETICS &amp;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514"/>
                </a:solidFill>
              </a:defRPr>
            </a:pPr>
            <a:r>
              <a:t>Bespoke Indian-Inspired UI/UX Design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240280" cy="822960"/>
          </a:xfrm>
          <a:prstGeom prst="roundRect">
            <a:avLst/>
          </a:prstGeom>
          <a:solidFill>
            <a:srgbClr val="E2725B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7432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1514"/>
                </a:solidFill>
              </a:defRPr>
            </a:pPr>
            <a:r>
              <a:t>Terracotta Red</a:t>
            </a:r>
          </a:p>
          <a:p>
            <a:pPr>
              <a:defRPr sz="1000" b="1">
                <a:solidFill>
                  <a:srgbClr val="E2725B"/>
                </a:solidFill>
              </a:defRPr>
            </a:pPr>
            <a:r>
              <a:t>#E2725B • Primary Actions &amp; Buttons</a:t>
            </a:r>
          </a:p>
          <a:p>
            <a:pPr>
              <a:spcBef>
                <a:spcPts val="300"/>
              </a:spcBef>
              <a:defRPr sz="950">
                <a:solidFill>
                  <a:srgbClr val="6E6663"/>
                </a:solidFill>
              </a:defRPr>
            </a:pPr>
            <a:r>
              <a:t>Used for high-priority CTA buttons, booking triggers, and critical metric indicators.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64592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21024" y="1828800"/>
            <a:ext cx="2240280" cy="822960"/>
          </a:xfrm>
          <a:prstGeom prst="roundRect">
            <a:avLst/>
          </a:prstGeom>
          <a:solidFill>
            <a:srgbClr val="FF9933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27432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1514"/>
                </a:solidFill>
              </a:defRPr>
            </a:pPr>
            <a:r>
              <a:t>Deep Saffron</a:t>
            </a:r>
          </a:p>
          <a:p>
            <a:pPr>
              <a:defRPr sz="1000" b="1">
                <a:solidFill>
                  <a:srgbClr val="E2725B"/>
                </a:solidFill>
              </a:defRPr>
            </a:pPr>
            <a:r>
              <a:t>#FF9933 • Headers &amp; Logistics Accents</a:t>
            </a:r>
          </a:p>
          <a:p>
            <a:pPr>
              <a:spcBef>
                <a:spcPts val="300"/>
              </a:spcBef>
              <a:defRPr sz="950">
                <a:solidFill>
                  <a:srgbClr val="6E6663"/>
                </a:solidFill>
              </a:defRPr>
            </a:pPr>
            <a:r>
              <a:t>Anchors navigation headers, territory badges, and route status highlights.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64592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27648" y="1828800"/>
            <a:ext cx="2240280" cy="822960"/>
          </a:xfrm>
          <a:prstGeom prst="roundRect">
            <a:avLst/>
          </a:prstGeom>
          <a:solidFill>
            <a:srgbClr val="FFC00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7432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1514"/>
                </a:solidFill>
              </a:defRPr>
            </a:pPr>
            <a:r>
              <a:t>Turmeric Yellow</a:t>
            </a:r>
          </a:p>
          <a:p>
            <a:pPr>
              <a:defRPr sz="1000" b="1">
                <a:solidFill>
                  <a:srgbClr val="E2725B"/>
                </a:solidFill>
              </a:defRPr>
            </a:pPr>
            <a:r>
              <a:t>#FFC000 • Subtle Alerts &amp; DAC Pills</a:t>
            </a:r>
          </a:p>
          <a:p>
            <a:pPr>
              <a:spcBef>
                <a:spcPts val="300"/>
              </a:spcBef>
              <a:defRPr sz="950">
                <a:solidFill>
                  <a:srgbClr val="6E6663"/>
                </a:solidFill>
              </a:defRPr>
            </a:pPr>
            <a:r>
              <a:t>Provides eye-friendly warnings for low stock levels and customer authentication chips.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1645920"/>
            <a:ext cx="26060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34272" y="1828800"/>
            <a:ext cx="2240280" cy="822960"/>
          </a:xfrm>
          <a:prstGeom prst="roundRect">
            <a:avLst/>
          </a:prstGeom>
          <a:solidFill>
            <a:srgbClr val="FAFAFA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15984" y="27432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1514"/>
                </a:solidFill>
              </a:defRPr>
            </a:pPr>
            <a:r>
              <a:t>Warm Off-White</a:t>
            </a:r>
          </a:p>
          <a:p>
            <a:pPr>
              <a:defRPr sz="1000" b="1">
                <a:solidFill>
                  <a:srgbClr val="E2725B"/>
                </a:solidFill>
              </a:defRPr>
            </a:pPr>
            <a:r>
              <a:t>#FAFAFA • Eye-Strain Reduction</a:t>
            </a:r>
          </a:p>
          <a:p>
            <a:pPr>
              <a:spcBef>
                <a:spcPts val="300"/>
              </a:spcBef>
              <a:defRPr sz="950">
                <a:solidFill>
                  <a:srgbClr val="6E6663"/>
                </a:solidFill>
              </a:defRPr>
            </a:pPr>
            <a:r>
              <a:t>Eliminates glare in busy distribution offices while avoiding generic dark-mode cliches.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10728655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10728655" cy="73152"/>
          </a:xfrm>
          <a:prstGeom prst="rect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80560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514"/>
                </a:solidFill>
              </a:defRPr>
            </a:pPr>
            <a:r>
              <a:t>Key UI/UX Innovations &amp; Accessibility Mandates</a:t>
            </a:r>
          </a:p>
          <a:p>
            <a:pPr>
              <a:spcBef>
                <a:spcPts val="400"/>
              </a:spcBef>
              <a:defRPr sz="1100">
                <a:solidFill>
                  <a:srgbClr val="3C3431"/>
                </a:solidFill>
              </a:defRPr>
            </a:pPr>
            <a:r>
              <a:t>✔ Strict Indian Rupee (₹) Standard: All currency formatted with '₹' using Indian numbering system (Lakhs/Crores).</a:t>
            </a:r>
          </a:p>
          <a:p>
            <a:pPr>
              <a:spcBef>
                <a:spcPts val="400"/>
              </a:spcBef>
              <a:defRPr sz="1100">
                <a:solidFill>
                  <a:srgbClr val="3C3431"/>
                </a:solidFill>
              </a:defRPr>
            </a:pPr>
            <a:r>
              <a:t>✔ Max-Visibility Contrast Mode: Accessible one-click toggle delivering pure #000000 text and reinforced borders for high-glare godown screens.</a:t>
            </a:r>
          </a:p>
          <a:p>
            <a:pPr>
              <a:spcBef>
                <a:spcPts val="400"/>
              </a:spcBef>
              <a:defRPr sz="1100">
                <a:solidFill>
                  <a:srgbClr val="3C3431"/>
                </a:solidFill>
              </a:defRPr>
            </a:pPr>
            <a:r>
              <a:t>✔ No AI/Bootstrap Boilerplate: Harsh lines replaced with 8-12px rounded radii, soft organic elevation shadows, and vernacular Hindi branding.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2725B"/>
                </a:solidFill>
              </a:defRPr>
            </a:pPr>
            <a:r>
              <a:t>CORE BACKEND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514"/>
                </a:solidFill>
              </a:defRPr>
            </a:pPr>
            <a:r>
              <a:t>Backend Logic, APIs &amp; Transaction Safety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91440"/>
          </a:xfrm>
          <a:prstGeom prst="rect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1514"/>
                </a:solidFill>
              </a:defRPr>
            </a:pPr>
            <a:r>
              <a:t>Atomic Booking Pipeline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Wrapped inside Django's transaction.atomic() with select_for_update() row-level locking.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Prevents physical inventory race conditions during morning booking surges.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Deducts available godown cylinder stock instantaneously upon validation.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Auto-rolls back with a friendly HTTP 400 if stock is exhausted.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9144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74519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1514"/>
                </a:solidFill>
              </a:defRPr>
            </a:pPr>
            <a:r>
              <a:t>Intelligent Route Allocation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Inspects consumer registered region (e.g. Kanpur South vs Hamirpur Rural).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Automatically links booking to active delivery van scheduled for that territory.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Increments assigned_consumers payload count on the delivery agent's schedule.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Enables logistics managers to balance vehicle capacity before morning roll-out.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874519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1514"/>
                </a:solidFill>
              </a:defRPr>
            </a:pPr>
            <a:r>
              <a:t>Doorstep Security (DAC OTP)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Generates authentic 6-digit Delivery Authentication Code (DAC) per order.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Customer presents DAC OTP to delivery agent upon physical cylinder handover.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Prevents diversion or unauthorized cylinder leakage in local areas.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Status transition: BOOKED -&gt; DISPATCHED -&gt; OUT_FOR_DELIVERY -&gt; DELIVERED.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2725B"/>
                </a:solidFill>
              </a:defRPr>
            </a:pPr>
            <a:r>
              <a:t>FRONTEND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514"/>
                </a:solidFill>
              </a:defRPr>
            </a:pPr>
            <a:r>
              <a:t>Bespoke AngularJS 1.8 Single-Page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14447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74520"/>
            <a:ext cx="228600" cy="228600"/>
          </a:xfrm>
          <a:prstGeom prst="ellipse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755648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1514"/>
                </a:solidFill>
              </a:defRPr>
            </a:pPr>
            <a:r>
              <a:t>Live Top Metric Ribbon</a:t>
            </a:r>
          </a:p>
          <a:p>
            <a:pPr>
              <a:spcBef>
                <a:spcPts val="300"/>
              </a:spcBef>
              <a:defRPr sz="1050">
                <a:solidFill>
                  <a:srgbClr val="3C3431"/>
                </a:solidFill>
              </a:defRPr>
            </a:pPr>
            <a:r>
              <a:t>Real-time KPI synchronization showing total registered consumers, filled stock availability, pending deliveries, and daily revenue in 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303520" cy="14447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55080" y="1874520"/>
            <a:ext cx="228600" cy="22860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55648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1514"/>
                </a:solidFill>
              </a:defRPr>
            </a:pPr>
            <a:r>
              <a:t>Godown Physical Stock Meters</a:t>
            </a:r>
          </a:p>
          <a:p>
            <a:pPr>
              <a:spcBef>
                <a:spcPts val="300"/>
              </a:spcBef>
              <a:defRPr sz="1050">
                <a:solidFill>
                  <a:srgbClr val="3C3431"/>
                </a:solidFill>
              </a:defRPr>
            </a:pPr>
            <a:r>
              <a:t>Dynamic availability bars with automated color transitions: Green (&gt;50%), Amber (25-50%), and Red (&lt;25% Low Stock Alert).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18688"/>
            <a:ext cx="5303520" cy="14447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447288"/>
            <a:ext cx="228600" cy="228600"/>
          </a:xfrm>
          <a:prstGeom prst="ellipse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328416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1514"/>
                </a:solidFill>
              </a:defRPr>
            </a:pPr>
            <a:r>
              <a:t>Smart Consumer Auto-Lookup</a:t>
            </a:r>
          </a:p>
          <a:p>
            <a:pPr>
              <a:spcBef>
                <a:spcPts val="300"/>
              </a:spcBef>
              <a:defRPr sz="1050">
                <a:solidFill>
                  <a:srgbClr val="3C3431"/>
                </a:solidFill>
              </a:defRPr>
            </a:pPr>
            <a:r>
              <a:t>Typeahead live search querying ID, mobile, or name across 22,000+ records with immediate Aadhaar-link and connection badges.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218688"/>
            <a:ext cx="5303520" cy="14447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5080" y="3447288"/>
            <a:ext cx="228600" cy="22860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328416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1514"/>
                </a:solidFill>
              </a:defRPr>
            </a:pPr>
            <a:r>
              <a:t>Dynamic Invoice Calculator</a:t>
            </a:r>
          </a:p>
          <a:p>
            <a:pPr>
              <a:spcBef>
                <a:spcPts val="300"/>
              </a:spcBef>
              <a:defRPr sz="1050">
                <a:solidFill>
                  <a:srgbClr val="3C3431"/>
                </a:solidFill>
              </a:defRPr>
            </a:pPr>
            <a:r>
              <a:t>Calculates base refill cost (quantity × price) and automatically applies DBTL Govt Subsidy deduction for domestic &amp; PMUY beneficiaries.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91456"/>
            <a:ext cx="5303520" cy="14447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20056"/>
            <a:ext cx="228600" cy="228600"/>
          </a:xfrm>
          <a:prstGeom prst="ellipse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901184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1514"/>
                </a:solidFill>
              </a:defRPr>
            </a:pPr>
            <a:r>
              <a:t>One-Click Status Transition</a:t>
            </a:r>
          </a:p>
          <a:p>
            <a:pPr>
              <a:spcBef>
                <a:spcPts val="300"/>
              </a:spcBef>
              <a:defRPr sz="1050">
                <a:solidFill>
                  <a:srgbClr val="3C3431"/>
                </a:solidFill>
              </a:defRPr>
            </a:pPr>
            <a:r>
              <a:t>Agency staff can update deliveries from 'Booked' to 'Dispatched' or 'Delivered' via dropdown action buttons with automatic stock restore on cancel.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91456"/>
            <a:ext cx="5303520" cy="14447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5020056"/>
            <a:ext cx="228600" cy="22860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901184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1514"/>
                </a:solidFill>
              </a:defRPr>
            </a:pPr>
            <a:r>
              <a:t>Printable Delivery Memo Modal</a:t>
            </a:r>
          </a:p>
          <a:p>
            <a:pPr>
              <a:spcBef>
                <a:spcPts val="300"/>
              </a:spcBef>
              <a:defRPr sz="1050">
                <a:solidFill>
                  <a:srgbClr val="3C3431"/>
                </a:solidFill>
              </a:defRPr>
            </a:pPr>
            <a:r>
              <a:t>Pop-up receipt modal presenting customer details, DAC code, and a one-click print memo button for the customer copy.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2725B"/>
                </a:solidFill>
              </a:defRPr>
            </a:pPr>
            <a:r>
              <a:t>DATA VISUALIZATION &amp;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514"/>
                </a:solidFill>
              </a:defRPr>
            </a:pPr>
            <a:r>
              <a:t>Streamlit Operational Deployment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303520" cy="73152"/>
          </a:xfrm>
          <a:prstGeom prst="rect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514"/>
                </a:solidFill>
              </a:defRPr>
            </a:pPr>
            <a:r>
              <a:t>Executive Dashboard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✔ Provides macro-level operational overview directly querying Django ORM.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✔ Interactive bar charts comparing available filled stock vs reserved godown inventory.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✔ Territory order volume charts segmenting demand across Kanpur and Hamirpur.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✔ Live tabular stream of recent bookings with formatted ₹ amounts.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3035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303520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514"/>
                </a:solidFill>
              </a:defRPr>
            </a:pPr>
            <a:r>
              <a:t>Stock Overview &amp; Matrix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✔ Complete tabular breakdown of 14.2kg Domestic, 19kg Commercial &amp; 5kg Mini.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✔ Direct calculation of godown storage readiness percentage.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✔ Pricing &amp; Subsidy matrix displaying real-time retail refill rates.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✔ Proactive low-stock notification triggers when inventory falls below 20%.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3035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69080"/>
            <a:ext cx="5303520" cy="73152"/>
          </a:xfrm>
          <a:prstGeom prst="rect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062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514"/>
                </a:solidFill>
              </a:defRPr>
            </a:pPr>
            <a:r>
              <a:t>Consumer Search (22k+)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✔ High-performance query engine filtering across 22,000+ local accounts.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✔ Search by Consumer ID, phone number, name, or street landmark.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✔ Region filtering: Kanpur Nagar, Kanpur Dehat, Hamirpur, Ghatampur, Rath, etc.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✔ Displays Aadhaar linkage, status, and connection type in real-time.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069080"/>
            <a:ext cx="53035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4069080"/>
            <a:ext cx="5303520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1514"/>
                </a:solidFill>
              </a:defRPr>
            </a:pPr>
            <a:r>
              <a:t>Route Dispatch &amp; Direct Booking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✔ Visualizes delivery van load capacity across regional transit corridors.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✔ Enables operators to issue refill bookings directly inside the Streamlit UI.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✔ Atomically reserves cylinder stock and outputs the customer DAC OTP code.</a:t>
            </a:r>
          </a:p>
          <a:p>
            <a:pPr>
              <a:spcBef>
                <a:spcPts val="400"/>
              </a:spcBef>
              <a:defRPr sz="1050">
                <a:solidFill>
                  <a:srgbClr val="3C3431"/>
                </a:solidFill>
              </a:defRPr>
            </a:pPr>
            <a:r>
              <a:t>✔ Cached queries (@st.cache_data) with a manual 1-click cache refresh.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2725B"/>
                </a:solidFill>
              </a:defRPr>
            </a:pPr>
            <a:r>
              <a:t>TERRITORIAL DISPATCH JURISDICTION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514"/>
                </a:solidFill>
              </a:defRPr>
            </a:pPr>
            <a:r>
              <a:t>Field Logistics &amp; Regional Corridor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6060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606040" cy="91440"/>
          </a:xfrm>
          <a:prstGeom prst="rect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74519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514"/>
                </a:solidFill>
              </a:defRPr>
            </a:pPr>
            <a:r>
              <a:t>Kanpur Nagar Urban Hub</a:t>
            </a:r>
          </a:p>
          <a:p>
            <a:pPr>
              <a:spcBef>
                <a:spcPts val="300"/>
              </a:spcBef>
              <a:defRPr sz="1050" b="1">
                <a:solidFill>
                  <a:srgbClr val="E2725B"/>
                </a:solidFill>
              </a:defRPr>
            </a:pPr>
            <a:r>
              <a:t>UP-78-AG / UP-78-BN</a:t>
            </a:r>
          </a:p>
          <a:p>
            <a:pPr>
              <a:spcBef>
                <a:spcPts val="800"/>
              </a:spcBef>
              <a:defRPr sz="1050">
                <a:solidFill>
                  <a:srgbClr val="3C3431"/>
                </a:solidFill>
              </a:defRPr>
            </a:pPr>
            <a:r>
              <a:t>• Kidwai Nagar 'H' Block, Barra Sector-4, Govind Nagar Block-7.</a:t>
            </a:r>
          </a:p>
          <a:p>
            <a:pPr>
              <a:spcBef>
                <a:spcPts val="800"/>
              </a:spcBef>
              <a:defRPr sz="1050">
                <a:solidFill>
                  <a:srgbClr val="3C3431"/>
                </a:solidFill>
              </a:defRPr>
            </a:pPr>
            <a:r>
              <a:t>• Civil Lines &amp; Mall Road commercial and restaurant jumbo deliveries.</a:t>
            </a:r>
          </a:p>
          <a:p>
            <a:pPr>
              <a:spcBef>
                <a:spcPts val="800"/>
              </a:spcBef>
              <a:defRPr sz="1050">
                <a:solidFill>
                  <a:srgbClr val="3C3431"/>
                </a:solidFill>
              </a:defRPr>
            </a:pPr>
            <a:r>
              <a:t>• Kalyanpur, GT Road, and IIT Kanpur residential colony routes.</a:t>
            </a:r>
          </a:p>
          <a:p>
            <a:pPr>
              <a:spcBef>
                <a:spcPts val="800"/>
              </a:spcBef>
              <a:defRPr sz="1050">
                <a:solidFill>
                  <a:srgbClr val="3C3431"/>
                </a:solidFill>
              </a:defRPr>
            </a:pPr>
            <a:r>
              <a:t>• High-density morning dispatch runs handled by Ramesh Yadav &amp; Suresh Verma.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645920"/>
            <a:ext cx="26060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38144" y="1645920"/>
            <a:ext cx="2606040" cy="9144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1874519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514"/>
                </a:solidFill>
              </a:defRPr>
            </a:pPr>
            <a:r>
              <a:t>Kanpur Dehat &amp; Industrial Belt</a:t>
            </a:r>
          </a:p>
          <a:p>
            <a:pPr>
              <a:spcBef>
                <a:spcPts val="300"/>
              </a:spcBef>
              <a:defRPr sz="1050" b="1">
                <a:solidFill>
                  <a:srgbClr val="FF9933"/>
                </a:solidFill>
              </a:defRPr>
            </a:pPr>
            <a:r>
              <a:t>UP-78-ED / UP-78-DY</a:t>
            </a:r>
          </a:p>
          <a:p>
            <a:pPr>
              <a:spcBef>
                <a:spcPts val="800"/>
              </a:spcBef>
              <a:defRPr sz="1050">
                <a:solidFill>
                  <a:srgbClr val="3C3431"/>
                </a:solidFill>
              </a:defRPr>
            </a:pPr>
            <a:r>
              <a:t>• Akbarpur Main Market &amp; Tehsil Gate distribution post.</a:t>
            </a:r>
          </a:p>
          <a:p>
            <a:pPr>
              <a:spcBef>
                <a:spcPts val="800"/>
              </a:spcBef>
              <a:defRPr sz="1050">
                <a:solidFill>
                  <a:srgbClr val="3C3431"/>
                </a:solidFill>
              </a:defRPr>
            </a:pPr>
            <a:r>
              <a:t>• Rania Industrial Area: 19kg commercial cylinder deliveries for factories.</a:t>
            </a:r>
          </a:p>
          <a:p>
            <a:pPr>
              <a:spcBef>
                <a:spcPts val="800"/>
              </a:spcBef>
              <a:defRPr sz="1050">
                <a:solidFill>
                  <a:srgbClr val="3C3431"/>
                </a:solidFill>
              </a:defRPr>
            </a:pPr>
            <a:r>
              <a:t>• Ghatampur &amp; Jahanabad National Highway logistics corridor.</a:t>
            </a:r>
          </a:p>
          <a:p>
            <a:pPr>
              <a:spcBef>
                <a:spcPts val="800"/>
              </a:spcBef>
              <a:defRPr sz="1050">
                <a:solidFill>
                  <a:srgbClr val="3C3431"/>
                </a:solidFill>
              </a:defRPr>
            </a:pPr>
            <a:r>
              <a:t>• Scheduled rural transport runs operated by Driver Mohammad Irfan.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645920"/>
            <a:ext cx="26060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1645920"/>
            <a:ext cx="260604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19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514"/>
                </a:solidFill>
              </a:defRPr>
            </a:pPr>
            <a:r>
              <a:t>Hamirpur City &amp; Riverfront</a:t>
            </a:r>
          </a:p>
          <a:p>
            <a:pPr>
              <a:spcBef>
                <a:spcPts val="300"/>
              </a:spcBef>
              <a:defRPr sz="1050" b="1">
                <a:solidFill>
                  <a:srgbClr val="2E7D32"/>
                </a:solidFill>
              </a:defRPr>
            </a:pPr>
            <a:r>
              <a:t>UP-91-K</a:t>
            </a:r>
          </a:p>
          <a:p>
            <a:pPr>
              <a:spcBef>
                <a:spcPts val="800"/>
              </a:spcBef>
              <a:defRPr sz="1050">
                <a:solidFill>
                  <a:srgbClr val="3C3431"/>
                </a:solidFill>
              </a:defRPr>
            </a:pPr>
            <a:r>
              <a:t>• Subhash Nagar &amp; Yamuna Ghat bridge checkpost route.</a:t>
            </a:r>
          </a:p>
          <a:p>
            <a:pPr>
              <a:spcBef>
                <a:spcPts val="800"/>
              </a:spcBef>
              <a:defRPr sz="1050">
                <a:solidFill>
                  <a:srgbClr val="3C3431"/>
                </a:solidFill>
              </a:defRPr>
            </a:pPr>
            <a:r>
              <a:t>• Betwa Riverfront Sangam and Collectorate Civil Lines colony.</a:t>
            </a:r>
          </a:p>
          <a:p>
            <a:pPr>
              <a:spcBef>
                <a:spcPts val="800"/>
              </a:spcBef>
              <a:defRPr sz="1050">
                <a:solidFill>
                  <a:srgbClr val="3C3431"/>
                </a:solidFill>
              </a:defRPr>
            </a:pPr>
            <a:r>
              <a:t>• Ramanand Nagar District Hospital institutional supply hub.</a:t>
            </a:r>
          </a:p>
          <a:p>
            <a:pPr>
              <a:spcBef>
                <a:spcPts val="800"/>
              </a:spcBef>
              <a:defRPr sz="1050">
                <a:solidFill>
                  <a:srgbClr val="3C3431"/>
                </a:solidFill>
              </a:defRPr>
            </a:pPr>
            <a:r>
              <a:t>• Managed by Delivery Executive Vijay Pratap Singh.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1645920"/>
            <a:ext cx="26060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1645920"/>
            <a:ext cx="2606040" cy="91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15984" y="1874519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1514"/>
                </a:solidFill>
              </a:defRPr>
            </a:pPr>
            <a:r>
              <a:t>Hamirpur Rural &amp; Rath Sector</a:t>
            </a:r>
          </a:p>
          <a:p>
            <a:pPr>
              <a:spcBef>
                <a:spcPts val="300"/>
              </a:spcBef>
              <a:defRPr sz="1050" b="1">
                <a:solidFill>
                  <a:srgbClr val="FFC000"/>
                </a:solidFill>
              </a:defRPr>
            </a:pPr>
            <a:r>
              <a:t>UP-91-M / UP-91-P</a:t>
            </a:r>
          </a:p>
          <a:p>
            <a:pPr>
              <a:spcBef>
                <a:spcPts val="800"/>
              </a:spcBef>
              <a:defRPr sz="1050">
                <a:solidFill>
                  <a:srgbClr val="3C3431"/>
                </a:solidFill>
              </a:defRPr>
            </a:pPr>
            <a:r>
              <a:t>• Vill-Bilgaon, Maudaha Tehsil &amp; Ingohta Village Ujjawala drop-offs.</a:t>
            </a:r>
          </a:p>
          <a:p>
            <a:pPr>
              <a:spcBef>
                <a:spcPts val="800"/>
              </a:spcBef>
              <a:defRPr sz="1050">
                <a:solidFill>
                  <a:srgbClr val="3C3431"/>
                </a:solidFill>
              </a:defRPr>
            </a:pPr>
            <a:r>
              <a:t>• Bharuwa Sumerpur Industrial Estate (HUL Plant link).</a:t>
            </a:r>
          </a:p>
          <a:p>
            <a:pPr>
              <a:spcBef>
                <a:spcPts val="800"/>
              </a:spcBef>
              <a:defRPr sz="1050">
                <a:solidFill>
                  <a:srgbClr val="3C3431"/>
                </a:solidFill>
              </a:defRPr>
            </a:pPr>
            <a:r>
              <a:t>• Rath Town: Padav Chauraha, Bara Khamba, and Orai Road bypass.</a:t>
            </a:r>
          </a:p>
          <a:p>
            <a:pPr>
              <a:spcBef>
                <a:spcPts val="800"/>
              </a:spcBef>
              <a:defRPr sz="1050">
                <a:solidFill>
                  <a:srgbClr val="3C3431"/>
                </a:solidFill>
              </a:defRPr>
            </a:pPr>
            <a:r>
              <a:t>• Operated by Drivers Dinesh Pal &amp; Manoj Kumar Tiwari.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2725B"/>
                </a:solidFill>
              </a:defRPr>
            </a:pPr>
            <a:r>
              <a:t>AUDIT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514"/>
                </a:solidFill>
              </a:defRPr>
            </a:pPr>
            <a:r>
              <a:t>Performance Benchmarks &amp; Key Operational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6060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606040" cy="91440"/>
          </a:xfrm>
          <a:prstGeom prst="rect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2725B"/>
                </a:solidFill>
              </a:defRPr>
            </a:pPr>
            <a:r>
              <a:t>22,000+</a:t>
            </a:r>
          </a:p>
          <a:p>
            <a:pPr>
              <a:spcBef>
                <a:spcPts val="400"/>
              </a:spcBef>
              <a:defRPr sz="1300" b="1">
                <a:solidFill>
                  <a:srgbClr val="181514"/>
                </a:solidFill>
              </a:defRPr>
            </a:pPr>
            <a:r>
              <a:t>Consumer Scalability</a:t>
            </a:r>
          </a:p>
          <a:p>
            <a:pPr>
              <a:spcBef>
                <a:spcPts val="800"/>
              </a:spcBef>
              <a:defRPr sz="1050">
                <a:solidFill>
                  <a:srgbClr val="6E6663"/>
                </a:solidFill>
              </a:defRPr>
            </a:pPr>
            <a:r>
              <a:t>Engineered with composite indexes to handle over 22k registered accounts without query degradation.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645920"/>
            <a:ext cx="26060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38144" y="1645920"/>
            <a:ext cx="2606040" cy="9144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192024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9933"/>
                </a:solidFill>
              </a:defRPr>
            </a:pPr>
            <a:r>
              <a:t>&lt; 45ms</a:t>
            </a:r>
          </a:p>
          <a:p>
            <a:pPr>
              <a:spcBef>
                <a:spcPts val="400"/>
              </a:spcBef>
              <a:defRPr sz="1300" b="1">
                <a:solidFill>
                  <a:srgbClr val="181514"/>
                </a:solidFill>
              </a:defRPr>
            </a:pPr>
            <a:r>
              <a:t>Average Query Latency</a:t>
            </a:r>
          </a:p>
          <a:p>
            <a:pPr>
              <a:spcBef>
                <a:spcPts val="800"/>
              </a:spcBef>
              <a:defRPr sz="1050">
                <a:solidFill>
                  <a:srgbClr val="6E6663"/>
                </a:solidFill>
              </a:defRPr>
            </a:pPr>
            <a:r>
              <a:t>Sub-50ms REST API response time for paged consumer lookup and live stock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645920"/>
            <a:ext cx="26060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1645920"/>
            <a:ext cx="260604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300" b="1">
                <a:solidFill>
                  <a:srgbClr val="181514"/>
                </a:solidFill>
              </a:defRPr>
            </a:pPr>
            <a:r>
              <a:t>Stock Transaction Safety</a:t>
            </a:r>
          </a:p>
          <a:p>
            <a:pPr>
              <a:spcBef>
                <a:spcPts val="800"/>
              </a:spcBef>
              <a:defRPr sz="1050">
                <a:solidFill>
                  <a:srgbClr val="6E6663"/>
                </a:solidFill>
              </a:defRPr>
            </a:pPr>
            <a:r>
              <a:t>Atomic locks (select_for_update) prevent overselling and inventory leakages.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1645920"/>
            <a:ext cx="26060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1645920"/>
            <a:ext cx="2606040" cy="91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15984" y="192024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C000"/>
                </a:solidFill>
              </a:defRPr>
            </a:pPr>
            <a:r>
              <a:t>6-Digit</a:t>
            </a:r>
          </a:p>
          <a:p>
            <a:pPr>
              <a:spcBef>
                <a:spcPts val="400"/>
              </a:spcBef>
              <a:defRPr sz="1300" b="1">
                <a:solidFill>
                  <a:srgbClr val="181514"/>
                </a:solidFill>
              </a:defRPr>
            </a:pPr>
            <a:r>
              <a:t>Doorstep DAC OTP Security</a:t>
            </a:r>
          </a:p>
          <a:p>
            <a:pPr>
              <a:spcBef>
                <a:spcPts val="800"/>
              </a:spcBef>
              <a:defRPr sz="1050">
                <a:solidFill>
                  <a:srgbClr val="6E6663"/>
                </a:solidFill>
              </a:defRPr>
            </a:pPr>
            <a:r>
              <a:t>Guarantees cylinder delivery authentication directly at consumer residence.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10728655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920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1514"/>
                </a:solidFill>
              </a:defRPr>
            </a:pPr>
            <a:r>
              <a:t>Operational Comparison: Legacy Manual Agency vs Shree Ganesh LPG System</a:t>
            </a:r>
          </a:p>
          <a:p>
            <a:pPr>
              <a:spcBef>
                <a:spcPts val="400"/>
              </a:spcBef>
              <a:defRPr sz="1100">
                <a:solidFill>
                  <a:srgbClr val="3C3431"/>
                </a:solidFill>
              </a:defRPr>
            </a:pPr>
            <a:r>
              <a:t>✔ Legacy Approach: Handwritten register receipts, unverified phone bookings, manual daily stock reconciliation, zero live van tracking.</a:t>
            </a:r>
          </a:p>
          <a:p>
            <a:pPr>
              <a:spcBef>
                <a:spcPts val="400"/>
              </a:spcBef>
              <a:defRPr sz="1100">
                <a:solidFill>
                  <a:srgbClr val="3C3431"/>
                </a:solidFill>
              </a:defRPr>
            </a:pPr>
            <a:r>
              <a:t>✔ Bespoke System: Automated instant DAC generation, 1-click status transitions, live stock visual meters, sub-second 22k consumer lookup.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2725B"/>
                </a:solidFill>
              </a:defRPr>
            </a:pPr>
            <a:r>
              <a:t>GROWTH &amp;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1514"/>
                </a:solidFill>
              </a:defRPr>
            </a:pPr>
            <a:r>
              <a:t>Future Roadmap &amp; Technological Expansion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91440"/>
          </a:xfrm>
          <a:prstGeom prst="rect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1514"/>
                </a:solidFill>
              </a:defRPr>
            </a:pPr>
            <a:r>
              <a:t>Phase 1: Automated SMS &amp; WhatsApp Alerts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Instant WhatsApp booking receipt sent to consumer mobile upon creation.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Automatic SMS broadcast with delivery DAC code and assigned driver contact.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Delivery confirmation alert notifying DBTL subsidy credit to bank.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74720" cy="9144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74519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1514"/>
                </a:solidFill>
              </a:defRPr>
            </a:pPr>
            <a:r>
              <a:t>Phase 2: Mobile Delivery Driver App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Lightweight Progressive Web App (PWA) for van drivers in Kanpur &amp; Hamirpur.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Real-time turn-by-turn route navigation optimized by mohalla clusters.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Driver OTP entry terminal to mark orders DELIVERED instantly at doorstep.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47472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874519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1514"/>
                </a:solidFill>
              </a:defRPr>
            </a:pPr>
            <a:r>
              <a:t>Phase 3: Dynamic BharatQR &amp; Soundbox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Dynamic UPI QR code generated on delivery invoice for instant cashless payment.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Automatic webhook updating Order payment_status to 'PAID' via UPI UTR.</a:t>
            </a:r>
          </a:p>
          <a:p>
            <a:pPr>
              <a:spcBef>
                <a:spcPts val="1000"/>
              </a:spcBef>
              <a:defRPr sz="1150">
                <a:solidFill>
                  <a:srgbClr val="3C3431"/>
                </a:solidFill>
              </a:defRPr>
            </a:pPr>
            <a:r>
              <a:t>• Voice confirmation soundbox integration for agency counter pickups.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27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280160"/>
            <a:ext cx="85340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2725B"/>
                </a:solidFill>
              </a:defRPr>
            </a:pPr>
            <a:r>
              <a:t>अधिकृत एलपीजी वितरण केंद्र • KANPUR &amp; HAMIRPUR COMMAND</a:t>
            </a:r>
          </a:p>
          <a:p>
            <a:pPr algn="ctr">
              <a:spcBef>
                <a:spcPts val="800"/>
              </a:spcBef>
              <a:defRPr sz="3200" b="1">
                <a:solidFill>
                  <a:srgbClr val="181514"/>
                </a:solidFill>
              </a:defRPr>
            </a:pPr>
            <a:r>
              <a:t>Thank You! Questions &amp; Discussion</a:t>
            </a:r>
          </a:p>
          <a:p>
            <a:pPr algn="ctr">
              <a:spcBef>
                <a:spcPts val="600"/>
              </a:spcBef>
              <a:defRPr sz="1500">
                <a:solidFill>
                  <a:srgbClr val="3C3431"/>
                </a:solidFill>
              </a:defRPr>
            </a:pPr>
            <a:r>
              <a:t>LPG Distribution &amp; Consumer Management System | Shree Ganesh LPG Agency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181514"/>
                </a:solidFill>
              </a:defRPr>
            </a:pPr>
            <a:r>
              <a:t>AngularJS SPA Portal:  http://127.0.0.1:8000/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181514"/>
                </a:solidFill>
              </a:defRPr>
            </a:pPr>
            <a:r>
              <a:t>Streamlit Command Hub:  http://127.0.0.1:8501/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181514"/>
                </a:solidFill>
              </a:defRPr>
            </a:pPr>
            <a:r>
              <a:t>Django Admin Registry:  http://127.0.0.1:8000/admin/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181514"/>
                </a:solidFill>
              </a:defRPr>
            </a:pPr>
            <a:r>
              <a:t>Lead Architect &amp; Engineer:  Dhruv Paliwal (dhruvpaliwal26306dps@gmail.com)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